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8686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StudyBuddy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1664208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Algorithm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2926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514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CBF + CF combine into a Hybrid scoring system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ranks tutors for every student on the platform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023360"/>
            <a:ext cx="2560320" cy="411480"/>
          </a:xfrm>
          <a:prstGeom prst="rect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023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Filtering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4023360"/>
            <a:ext cx="2560320" cy="411480"/>
          </a:xfrm>
          <a:prstGeom prst="rect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4023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4023360"/>
            <a:ext cx="2560320" cy="411480"/>
          </a:xfrm>
          <a:prstGeom prst="rect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4023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Scoring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Philippine University  —  Peer-to-Peer Tutoring Platform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Architecture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22376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2697480" cy="2057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269748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(CBF)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325880"/>
            <a:ext cx="24871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tutor attributes to student profile.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ratings needed.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868680"/>
            <a:ext cx="2697480" cy="205740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868680"/>
            <a:ext cx="269748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86868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(CF)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01568" y="1325880"/>
            <a:ext cx="24871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similar students,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unseen ratings.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868680"/>
            <a:ext cx="2697480" cy="205740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868680"/>
            <a:ext cx="269748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86868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27648" y="1325880"/>
            <a:ext cx="24871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blend of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CBF (70%) + CF (30%).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63240" y="153619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989320" y="153619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097280" y="3108960"/>
            <a:ext cx="694944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97280" y="310896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hybrid_score</a:t>
            </a:r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 0.7 × </a:t>
            </a:r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cbf_score</a:t>
            </a:r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 0.3 × (</a:t>
            </a:r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cf_score</a:t>
            </a:r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÷ 5)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57200" y="40690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CBF handles cold-start and profile matching. CF adds personalization from past ratings. Hybrid blends both.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Filtering (CBF)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22376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869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What it does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student profile attributes to tutor profile attributes.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score from 0.0 to 1.0  (1 = perfect attribute match).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even for brand-new students — no prior ratings required (cold-start safe).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inside hybrid_prediction() for every candidate tutor.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760720" y="868680"/>
            <a:ext cx="301752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60720" y="868680"/>
            <a:ext cx="301752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0" y="868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Inputs &amp; Output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9788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INPUTS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897880" y="17465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student_profile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296912" y="17465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course, year_level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897880" y="21671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student_subjects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296912" y="21671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Preference model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897880" y="2587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requested_subject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296912" y="2587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being searched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897880" y="3008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tutor.profile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296912" y="3008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course, year_level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97880" y="3429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tutorsubjects_set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296912" y="3429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+ expertise_level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897880" y="38496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OUTPUT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897880" y="4270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CBF Score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296912" y="4270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– 1.0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743200"/>
            <a:ext cx="512064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2743200"/>
            <a:ext cx="5120640" cy="5943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File: backend/studybuddy/recommender/cbf.py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Function: compute_cbf_score(student_profile, tutor, requested_subject)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49300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Mode Filtering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3767328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recommend_tutors() pre-filters the queryset by preferred_mode before scoring: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can_online=True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Online sessions  /  </a:t>
            </a:r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can_f2f=True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Face-to-face.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CBF: The 5 Scoring Factors &amp; Weights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22376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42062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73152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30752" y="996696"/>
            <a:ext cx="62179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30752" y="996696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9509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Match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121615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s_subject  ·  W_SUBJECT = 0.35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8912" y="1417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if tutor teaches any of the student's requested/preference subjects, else 0.0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075688"/>
            <a:ext cx="42062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075688"/>
            <a:ext cx="73152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30752" y="2157984"/>
            <a:ext cx="621792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30752" y="2157984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20%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8912" y="21122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 Level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8912" y="237744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s_expertise  ·  W_EXPERTISE = 0.20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8912" y="25786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expertise_level (1–5) of matching subjects, divided by 5 to normalize to 0–1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236976"/>
            <a:ext cx="42062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236976"/>
            <a:ext cx="73152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30752" y="3319272"/>
            <a:ext cx="621792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30752" y="331927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20%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8912" y="3273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Match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8912" y="353872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s_course  ·  W_COURSE = 0.20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38912" y="373989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= same course  |  0.5 = same strand  |  0.0 = different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914400"/>
            <a:ext cx="42062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914400"/>
            <a:ext cx="73152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11312" y="996696"/>
            <a:ext cx="621792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11312" y="996696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15%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19472" y="9509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Proximity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19472" y="121615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s_year  ·  W_YEAR = 0.15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19472" y="1417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÷ (1 + |student_year_level − tutor_year_level|)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2075688"/>
            <a:ext cx="42062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2075688"/>
            <a:ext cx="73152" cy="1005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11312" y="2157984"/>
            <a:ext cx="621792" cy="2560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11312" y="2157984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10%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919472" y="21122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Level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919472" y="237744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s_level  ·  W_LEVEL = 0.10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919472" y="25786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if tutor is SHS-only and student year_level &gt; 12, otherwise 1.0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4407408"/>
            <a:ext cx="859536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40740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0.35·s_subject + 0.20·s_expertise + 0.20·s_course + 0.15·s_year + 0.10·s_level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CBF: Worked Example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731520"/>
            <a:ext cx="859536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768096"/>
            <a:ext cx="82296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Reyes  ·  BS Computer Science  ·  Year 2  ·  Subjects: CS101, MATH101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Cruz  ·  BS Computer Science  ·  Year 4  ·  Teaches: CS101 (expertise 4/5) + MATH101 (expertise 3/5)  ·  Level: College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682496"/>
            <a:ext cx="859536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682496"/>
            <a:ext cx="10972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Factor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63040" y="1682496"/>
            <a:ext cx="48463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Calculation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0" y="1682496"/>
            <a:ext cx="6858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Raw Value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0" y="1682496"/>
            <a:ext cx="6858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Weight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909560" y="1682496"/>
            <a:ext cx="8686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Contribution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029968"/>
            <a:ext cx="73152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2029968"/>
            <a:ext cx="8522208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1122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s_subject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81328" y="211226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 teaches CS101 + MATH101 → matching_expertise = [4, 3] → not empty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19088" y="211226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32320" y="211226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×0.35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909560" y="211226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0.350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505456"/>
            <a:ext cx="73152" cy="43891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2505456"/>
            <a:ext cx="8522208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5877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s_expertise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81328" y="25877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avg([4, 3]) = 3.5  →  3.5 ÷ 5 = 0.700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19088" y="258775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0.700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32320" y="258775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×0.20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909560" y="258775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0.140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2980944"/>
            <a:ext cx="73152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" y="2980944"/>
            <a:ext cx="8522208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063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s_course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481328" y="3063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student.course == tutor.course (both BS CompSci) → same course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19088" y="30632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132320" y="30632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×0.20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909560" y="3063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0.200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3456432"/>
            <a:ext cx="73152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7472" y="3456432"/>
            <a:ext cx="8522208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35387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s_year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481328" y="35387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|year 2 − year 4| = 2  →  1 ÷ (1 + 2) = 0.333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19088" y="353872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0.333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132320" y="353872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×0.15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909560" y="35387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0.050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3931920"/>
            <a:ext cx="73152" cy="43891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47472" y="3931920"/>
            <a:ext cx="8522208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40142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s_level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481328" y="401421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tutor.teaching_level = "College", student year 2 — SHS check skipped → 1.0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19088" y="401421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132320" y="401421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×0.10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909560" y="40142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0.100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74320" y="4443984"/>
            <a:ext cx="859536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4443984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CBF Score  =  0.350 + 0.140 + 0.200 + 0.050 + 0.100  =  0.840  (out of 1.0)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 (CF)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22376"/>
            <a:ext cx="82296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0"/>
            <a:ext cx="2697480" cy="246888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44168" y="914400"/>
            <a:ext cx="640080" cy="6400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44168" y="914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11480" y="166420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Build Rating Matrix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all Rating records from the DB.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= students, columns = tutors,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= rating_score (integer 1–5).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1828800"/>
            <a:ext cx="137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154680" y="914400"/>
            <a:ext cx="2697480" cy="2468880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78808" y="914400"/>
            <a:ext cx="640080" cy="6400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78808" y="914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246120" y="166420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Pearson Similarity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205740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pair of students compute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 over their set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commonly-rated tutors (top-k=5).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52160" y="1828800"/>
            <a:ext cx="137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989320" y="914400"/>
            <a:ext cx="2697480" cy="246888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13448" y="91440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13448" y="914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080760" y="166420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Predict Rating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26480" y="205740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sum of neighbor deviations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their own mean, added to the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student's mean rating.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Key Design Notes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82219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Already-rated tutors are skipped — CF only predicts tutors the student has NOT yet rated.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student (no ratings yet) → CF returns None → treated as 0 in the hybrid formula (graceful cold-start).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5 neighbors by default. CF score is on the 1–5 star scale (normalized before blending).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File: backend/studybuddy/recommender/CF.py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CF: Pearson Similarity Formula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22376"/>
            <a:ext cx="82296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914400"/>
            <a:ext cx="7315200" cy="1234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91440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sim(u, v)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 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Σᵢ∈I (rᵤᵢ − r̄ᵤ)(rᵥᵢ − r̄ᵥ)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1444752"/>
            <a:ext cx="274320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6304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sqrt( Σᵢ (rᵤᵢ − r̄ᵤ)² )  ×  sqrt( Σᵢ (rᵥᵢ − r̄ᵥ)² 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04288"/>
            <a:ext cx="8412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395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u, v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783080" y="2395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students being compared for similarity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816352"/>
            <a:ext cx="841248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9077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783080" y="29077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of tutors rated by BOTH u and v  (common items only)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328416"/>
            <a:ext cx="8412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4198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rᵤᵢ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783080" y="341985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u's rating for tutor i  (integer 1–5)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840480"/>
            <a:ext cx="841248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931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r̄ᵤ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783080" y="3931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u's mean rating, computed over common items only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352544"/>
            <a:ext cx="8412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4439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783080" y="444398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−1.0 to +1.0.  Positive = similar taste.  0 = no correlation.  −1 = opposite.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CF: Predicting a Rating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22376"/>
            <a:ext cx="82296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868680"/>
            <a:ext cx="768096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8686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pred(u, i)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 r̄ᵤ  +  </a:t>
            </a:r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Σₙ sim(u,n)×(rₙᵢ − r̄ₙ)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÷  </a:t>
            </a:r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Σₙ |sim(u,n)|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1947672"/>
            <a:ext cx="384048" cy="38404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947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8928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student's mean  (r̄ᵤ)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16712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of all ratings the current student has already given. This is the baseline — adjustments are relative to it.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587752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587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25328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top-5 neighbors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280720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all other students by Pearson similarity; take top k=5. These neighbors influence the prediction.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227832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227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31729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weighted deviations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344728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neighbor who has rated tutor i: add sim(u,n) × (rₙᵢ − r̄ₙ) to numerator, |sim(u,n)| to denominator.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867912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38130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&amp; shift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408736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weighted deviations by total abs-similarity, then add to r̄ᵤ. Result is on the 1–5 star scale.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4507992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507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44531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→ None (returns 0)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472744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denominator = 0 (no neighbor rated tutor i) → compute_cf_score returns None → hybrid treats it as 0.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CF: Worked Example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82296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Goal: predict Ana's rating for Tutor C (she hasn't rated them yet)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33272"/>
          <a:ext cx="5486400" cy="109728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005840"/>
                <a:gridCol w="1005840"/>
                <a:gridCol w="10058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Tutor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Tutor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Tutor 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Tutor 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 (target)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—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 (neighbor 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—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 (neighbor 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2231136"/>
            <a:ext cx="73152" cy="5669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22494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Ana's mean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30352" y="2487168"/>
            <a:ext cx="8275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 tutors: A=5, B=3, D=4  →  r̄_Ana = (5+3+4)/3 = 4.00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65760" y="2880360"/>
            <a:ext cx="73152" cy="5669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0352" y="2898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sim(Ana, Ben)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30352" y="3136392"/>
            <a:ext cx="8275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items: {A, B}.  r̄_Ana_AB = 4.0,  r̄_Ben_AB = 3.5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numerator = (5−4.0)(4−3.5) + (3−4.0)(3−3.5) = 0.5+0.5 = 1.0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denom = √(1²+1²) × √(0.5²+0.5²) = 1.414 × 0.707 = 1.00  →  sim = 1.00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65760" y="3529584"/>
            <a:ext cx="73152" cy="5669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0352" y="35478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sim(Ana, Cara)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30352" y="3785616"/>
            <a:ext cx="8275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items: {A, B}.  r̄_Ana_AB = 4.0,  r̄_Cara_AB = 3.5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numerator = (5−4.0)(5−3.5) + (3−4.0)(2−3.5) = 1.5+1.5 = 3.0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denom = √(1²+1²) × √(1.5²+1.5²) = 1.414 × 2.121 = 3.0  →  sim = 1.00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65760" y="4178808"/>
            <a:ext cx="73152" cy="5669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0352" y="419709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pred(Ana, C)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30352" y="4434840"/>
            <a:ext cx="8275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rated C=5 (r̄_Ben=4.0),  Cara rated C=4 (r̄_Cara=3.5)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4.00 + [1.00×(5−4.0) + 1.00×(4−3.5)] / [1.00+1.00]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4.00 + (1.0 + 0.5)/2.0  =  4.00 + 0.75  =  4.75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65760" y="4727448"/>
            <a:ext cx="841248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5760" y="472744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 predicts Ana would rate Tutor C  ≈  4.75 / 5.0  (on the 1–5 star scale)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Hybrid Formula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960120"/>
          </a:xfrm>
          <a:prstGeom prst="rect">
            <a:avLst/>
          </a:prstGeom>
          <a:solidFill>
            <a:srgbClr val="1A3050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0584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hybrid_score</a:t>
            </a:r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 </a:t>
            </a:r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</a:t>
            </a:r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× cbf_score</a:t>
            </a:r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 </a:t>
            </a:r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</a:t>
            </a:r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× (cf_score ÷ 5)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4023360" cy="2240280"/>
          </a:xfrm>
          <a:prstGeom prst="rect">
            <a:avLst/>
          </a:prstGeom>
          <a:solidFill>
            <a:srgbClr val="1A3050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194560"/>
            <a:ext cx="4023360" cy="3474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945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</a:rPr>
              <a:t>CBF Component  (weight: 70%)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6334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 × cbf_score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999232"/>
            <a:ext cx="37490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cbf_score is already 0–1 (normalized).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Dominates ranking to ensure subject fit and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match come first.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2194560"/>
            <a:ext cx="4023360" cy="2240280"/>
          </a:xfrm>
          <a:prstGeom prst="rect">
            <a:avLst/>
          </a:prstGeom>
          <a:solidFill>
            <a:srgbClr val="1A3050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2194560"/>
            <a:ext cx="402336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1945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</a:rPr>
              <a:t>CF Component  (weight: 30%)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26334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 × (cf_score ÷ 5)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2999232"/>
            <a:ext cx="37490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cf_score is on the 1–5 star scale.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by 5 → normalize to 0–1 before blending.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ratings exist, cf_score → 0 (graceful).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773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0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File: backend/studybuddy/recommender/hybrid.py  ·  Function: hybrid_prediction()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Hybrid: Worked Example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82296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scenario: Ana Reyes searching for a tutor for CS101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15568"/>
            <a:ext cx="16002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1556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CBF Score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84832" y="128016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compute_cbf_score(Ana, Tutor C, "CS101")  =  0.840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52360" y="1225296"/>
            <a:ext cx="1188720" cy="45720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52360" y="122529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0.840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1938528"/>
            <a:ext cx="84124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938528"/>
            <a:ext cx="1600200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93852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CF Score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84832" y="210312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compute_cf_score(ratings, Ana.id, TutorC.profile_id)  =  4.75  (1–5 scale)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52360" y="2048256"/>
            <a:ext cx="1188720" cy="457200"/>
          </a:xfrm>
          <a:prstGeom prst="rect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52360" y="204825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4.75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365760" y="2761488"/>
            <a:ext cx="84124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761488"/>
            <a:ext cx="1600200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76148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CF Normalized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84832" y="292608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cf_score ÷ 5  =  4.75 ÷ 5  =  0.950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452360" y="2871216"/>
            <a:ext cx="1188720" cy="457200"/>
          </a:xfrm>
          <a:prstGeom prst="rect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287121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0.950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365760" y="3584448"/>
            <a:ext cx="84124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584448"/>
            <a:ext cx="160020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58444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Hybrid Score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084832" y="374904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 × 0.840  +  0.3 × 0.950  =  0.588 + 0.285  =  0.873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452360" y="3694176"/>
            <a:ext cx="1188720" cy="45720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52360" y="369417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0.873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365760" y="4434840"/>
            <a:ext cx="841248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4348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 C earns a hybrid score of 0.873 out of 1.0 — highly ranked for Ana.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Start: What Happens With No Ratings?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22376"/>
            <a:ext cx="822960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841248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0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student has no ratings → student_id not in ratings dict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cf_score = compute_cf_score(ratings, student_profile.id, tutor_id)
</a:t>
            </a:r>
            <a:pPr indent="0" marL="0">
              <a:buNone/>
            </a:pPr>
            <a:r>
              <a:rPr lang="en-US" sz="1100" dirty="0">
                <a:solidFill>
                  <a:srgbClr val="50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student_id not in ratings → returns </a:t>
            </a:r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if cf_score is None: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cf_score = </a:t>
            </a:r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50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hybrid.py line 28–29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2423160"/>
            <a:ext cx="8412480" cy="914400"/>
          </a:xfrm>
          <a:prstGeom prst="rect">
            <a:avLst/>
          </a:prstGeom>
          <a:solidFill>
            <a:srgbClr val="1A3050"/>
          </a:solidFill>
          <a:ln w="254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242316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hybrid_score</a:t>
            </a:r>
            <a:pPr algn="ctr" indent="0" marL="0">
              <a:buNone/>
            </a:pPr>
            <a:r>
              <a:rPr lang="en-US" sz="1800" dirty="0">
                <a:solidFill>
                  <a:srgbClr val="A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 0.7 × cbf_score  +  0.3 × (</a:t>
            </a:r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ctr" indent="0" marL="0">
              <a:buNone/>
            </a:pPr>
            <a:r>
              <a:rPr lang="en-US" sz="1800" dirty="0">
                <a:solidFill>
                  <a:srgbClr val="A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÷ 5)  =  </a:t>
            </a:r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 × cbf_score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29077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 term = 0 · ranking is 100% CBF for new students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401568"/>
            <a:ext cx="41148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3401568"/>
            <a:ext cx="41148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4015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CBF handles cold start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7947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CBF still runs fully — it uses the student's course, year level, and subjects from their Preference model. No prior ratings needed at all.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3401568"/>
            <a:ext cx="41148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3401568"/>
            <a:ext cx="411480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4015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CF activates after first rating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0600" y="37947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soon as a student leaves their first rating, they enter the rating matrix and Pearson neighbors can be found. CF begins contributing to their hybrid score.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hybrid.py lines 28–29  ·  CF = 0 is not an error — it is the intended cold-start behaviour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Algorithm Is Applied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22376"/>
            <a:ext cx="822960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0"/>
            <a:ext cx="4160520" cy="3977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41605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1.  Dashboard Recommendations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" y="13716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/api/student-dashboard/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9768" y="173736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68249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opens tutee dashboard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" y="2139696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20848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get_dashboard_recommendations(tutee) is called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" y="254203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24871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hit? → return top 5 immediately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9768" y="294436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28895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miss → build rating matrix, run hybrid on candidate tutors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9768" y="334670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3291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subject preferences? → fallback (unranked list)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9768" y="374904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" y="36941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result for 10 min, return top 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9768" y="3822192"/>
            <a:ext cx="3931920" cy="621792"/>
          </a:xfrm>
          <a:prstGeom prst="rect">
            <a:avLst/>
          </a:prstGeom>
          <a:solidFill>
            <a:srgbClr val="0D9488">
              <a:alpha val="12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858768"/>
            <a:ext cx="37856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subject=None; hybrid scores tutors matching student Preference subjects. 10 min TTL cache.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914400"/>
            <a:ext cx="4160520" cy="397764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914400"/>
            <a:ext cx="416052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91440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2.  FindTutors Search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73168" y="13716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/api/recommend-tutors/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73168" y="1737360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47488" y="168249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submits search (subject, mode, budget, date/time)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73168" y="2139696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47488" y="20848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get_recommendation_candidate_tutors() pre-filters queryset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73168" y="2542032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47488" y="24871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build_rating_matrix() loads all existing ratings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73168" y="2944368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47488" y="28895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recommend_tutors_hybrid(ratings, student, subject, candidate_qs)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73168" y="3346704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47488" y="3291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top 10 scored tutors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73168" y="3822192"/>
            <a:ext cx="3931920" cy="621792"/>
          </a:xfrm>
          <a:prstGeom prst="rect">
            <a:avLst/>
          </a:prstGeom>
          <a:solidFill>
            <a:srgbClr val="3B82F6">
              <a:alpha val="12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3858768"/>
            <a:ext cx="37856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is required. Candidate set filtered BEFORE scoring to minimize computation.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Caching &amp; Fallback Strategy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22376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896112"/>
            <a:ext cx="365760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0" y="896112"/>
            <a:ext cx="36576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Request: get_dashboard_recommendations(tutee)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407408" y="1371600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↓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0" y="1481328"/>
            <a:ext cx="365760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1481328"/>
            <a:ext cx="36576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HIT?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dash_recs:v{N}:limit5:{tutee_id}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407408" y="1956816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↓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0" y="2066544"/>
            <a:ext cx="365760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2066544"/>
            <a:ext cx="36576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subject preferences set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(Preference model)?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07408" y="2542032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↓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0" y="2651760"/>
            <a:ext cx="3657600" cy="4754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2651760"/>
            <a:ext cx="36576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candidate tutors by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student's subject codes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07408" y="3127248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3236976"/>
            <a:ext cx="3657600" cy="4754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3236976"/>
            <a:ext cx="36576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recommend_tutors_hybrid() → score + rank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07408" y="3712464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↓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0" y="3822192"/>
            <a:ext cx="3657600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0" y="3822192"/>
            <a:ext cx="36576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result  TTL = 600 s  (10 minutes)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07408" y="4297680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↓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0" y="4407408"/>
            <a:ext cx="365760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0" y="4407408"/>
            <a:ext cx="36576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top 5 to dashboard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1261872"/>
            <a:ext cx="2194560" cy="45720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1261872"/>
            <a:ext cx="21945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return cached immediately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720840" y="1828800"/>
            <a:ext cx="2103120" cy="457200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0840" y="1828800"/>
            <a:ext cx="21031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fallback: return top tutors unranked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4626864"/>
            <a:ext cx="841248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626864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 key: "dash_recs:v{version}:limit5:{tutee_id}"  ·  bump_dashboard_recs_cache_version() on data changes  ·  File: recommender/dashboard.py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25603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24128"/>
            <a:ext cx="4114800" cy="1051560"/>
          </a:xfrm>
          <a:prstGeom prst="rect">
            <a:avLst/>
          </a:prstGeom>
          <a:solidFill>
            <a:srgbClr val="142236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24128"/>
            <a:ext cx="1005840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24128"/>
            <a:ext cx="1005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70/30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54480" y="107899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split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54480" y="137160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CBF dominates at 70% — profile fit matters more than peer history. CF adds personalization at 30% when ratings exist.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4114800" cy="1051560"/>
          </a:xfrm>
          <a:prstGeom prst="rect">
            <a:avLst/>
          </a:prstGeom>
          <a:solidFill>
            <a:srgbClr val="14223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286000"/>
            <a:ext cx="1005840" cy="1051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86000"/>
            <a:ext cx="1005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5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554480" y="234086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CBF factors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54480" y="2633472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match (35%), expertise (20%), course (20%), year proximity (15%), teaching level (10%). Max = 1.0.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547872"/>
            <a:ext cx="4114800" cy="1051560"/>
          </a:xfrm>
          <a:prstGeom prst="rect">
            <a:avLst/>
          </a:prstGeom>
          <a:solidFill>
            <a:srgbClr val="142236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547872"/>
            <a:ext cx="1005840" cy="1051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547872"/>
            <a:ext cx="1005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5 ★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54480" y="360273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 scale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54480" y="3895344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 predicts on the 1–5 star scale, then divides by 5 before blending. Cold-start → CF=0 (safe default).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1024128"/>
            <a:ext cx="4114800" cy="1051560"/>
          </a:xfrm>
          <a:prstGeom prst="rect">
            <a:avLst/>
          </a:prstGeom>
          <a:solidFill>
            <a:srgbClr val="142236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1024128"/>
            <a:ext cx="1005840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024128"/>
            <a:ext cx="1005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10 min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943600" y="107899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cache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0" y="137160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cached for 600 s per tutee. Version key enables instant invalidation when tutor data changes.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2286000"/>
            <a:ext cx="4114800" cy="1051560"/>
          </a:xfrm>
          <a:prstGeom prst="rect">
            <a:avLst/>
          </a:prstGeom>
          <a:solidFill>
            <a:srgbClr val="14223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2286000"/>
            <a:ext cx="1005840" cy="10515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286000"/>
            <a:ext cx="1005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Top 10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943600" y="234086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size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43600" y="2633472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FindTutors returns top 10. Dashboard returns top 5. Candidate pre-filtering reduces tutor set before scoring.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StudyBuddy  —  Central Philippine University  ·  backend/studybuddy/recommender/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StudyBuddy Recommendation Algorithm</dc:title>
  <dc:subject>PptxGenJS Presentation</dc:subject>
  <dc:creator>PptxGenJS</dc:creator>
  <cp:lastModifiedBy>PptxGenJS</cp:lastModifiedBy>
  <cp:revision>1</cp:revision>
  <dcterms:created xsi:type="dcterms:W3CDTF">2026-06-16T16:55:16Z</dcterms:created>
  <dcterms:modified xsi:type="dcterms:W3CDTF">2026-06-16T16:55:16Z</dcterms:modified>
</cp:coreProperties>
</file>